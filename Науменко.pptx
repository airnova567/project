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uktao Bold" charset="1" panose="00000000000000000000"/>
      <p:regular r:id="rId17"/>
    </p:embeddedFont>
    <p:embeddedFont>
      <p:font typeface="Aptos Bold" charset="1" panose="020B0004020202020204"/>
      <p:regular r:id="rId18"/>
    </p:embeddedFont>
    <p:embeddedFont>
      <p:font typeface="Aptos" charset="1" panose="020B0004020202020204"/>
      <p:regular r:id="rId19"/>
    </p:embeddedFont>
    <p:embeddedFont>
      <p:font typeface="Open Sans Bold" charset="1" panose="020B08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028700" y="-19524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46846" y="743107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2"/>
                </a:lnTo>
                <a:lnTo>
                  <a:pt x="0" y="21740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7283" y="1355005"/>
            <a:ext cx="17133434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Чернівецький національний університет імені Юрія Федьковича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Навчально-науковий інститут фізико-технічних та 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комп’ютерних наук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Кафедра комп’ютерних наук   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ЗВІТ 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З ОБЧИСЛЮВАЛЬНОЇ ПРАКТИКИ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4114" y="7269901"/>
            <a:ext cx="14579773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Виконав студент першого курсу, групи 144Б Науменко Олександр Миколайович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Кері</a:t>
            </a:r>
            <a:r>
              <a:rPr lang="en-US" sz="2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вник доцент кафедри компʼютерних наук, кандидат фізико–математичних наук Довгунь Андрій Ярославович</a:t>
            </a:r>
          </a:p>
          <a:p>
            <a:pPr algn="ctr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64764" y="857250"/>
            <a:ext cx="4358473" cy="155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Зміст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84219" y="2672733"/>
            <a:ext cx="11919562" cy="433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1) Вступ 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2) Опис предметної області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3) Технічне завдання на розробку програмного продукту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4) Опис інструментів розробки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5) Проєктування бази даних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6) Створення інтерфейсу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7</a:t>
            </a: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) Інструкція користувача 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8</a:t>
            </a: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) Висновок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64764" y="857250"/>
            <a:ext cx="4358473" cy="155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Вступ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84219" y="2672733"/>
            <a:ext cx="11919562" cy="541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Актуальність теми</a:t>
            </a:r>
            <a:r>
              <a:rPr lang="en-US" sz="307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проходження практики полягає в тому, що в даний час діяльність багатьох невеликих арт-галерей та культурних установ залишається слабко автоматизованою, а ключовий облік експонатів часто ведеться на паперових носіях або у не призначених для цього електронних таблицях. 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Метою роботи</a:t>
            </a:r>
            <a:r>
              <a:rPr lang="en-US" sz="307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є створення графічного застосунку для арт-галереї «Galerie de l'Étude». 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Обʼєктом роботи</a:t>
            </a:r>
            <a:r>
              <a:rPr lang="en-US" sz="307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є предметна область «Арт-галерея». </a:t>
            </a:r>
          </a:p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Предметом роботи</a:t>
            </a:r>
            <a:r>
              <a:rPr lang="en-US" sz="307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є реалізація застосунку для автоматизації обліку експонатів та запису відвідувачів арт-галереї.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98131" y="904875"/>
            <a:ext cx="14091737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Опис предметної області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120887" y="2464369"/>
            <a:ext cx="3999621" cy="1934269"/>
            <a:chOff x="0" y="0"/>
            <a:chExt cx="1053398" cy="5094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3398" cy="509437"/>
            </a:xfrm>
            <a:custGeom>
              <a:avLst/>
              <a:gdLst/>
              <a:ahLst/>
              <a:cxnLst/>
              <a:rect r="r" b="b" t="t" l="l"/>
              <a:pathLst>
                <a:path h="509437" w="1053398">
                  <a:moveTo>
                    <a:pt x="32906" y="0"/>
                  </a:moveTo>
                  <a:lnTo>
                    <a:pt x="1020492" y="0"/>
                  </a:lnTo>
                  <a:cubicBezTo>
                    <a:pt x="1029219" y="0"/>
                    <a:pt x="1037589" y="3467"/>
                    <a:pt x="1043760" y="9638"/>
                  </a:cubicBezTo>
                  <a:cubicBezTo>
                    <a:pt x="1049931" y="15809"/>
                    <a:pt x="1053398" y="24179"/>
                    <a:pt x="1053398" y="32906"/>
                  </a:cubicBezTo>
                  <a:lnTo>
                    <a:pt x="1053398" y="476531"/>
                  </a:lnTo>
                  <a:cubicBezTo>
                    <a:pt x="1053398" y="494705"/>
                    <a:pt x="1038665" y="509437"/>
                    <a:pt x="1020492" y="509437"/>
                  </a:cubicBezTo>
                  <a:lnTo>
                    <a:pt x="32906" y="509437"/>
                  </a:lnTo>
                  <a:cubicBezTo>
                    <a:pt x="14733" y="509437"/>
                    <a:pt x="0" y="494705"/>
                    <a:pt x="0" y="476531"/>
                  </a:cubicBezTo>
                  <a:lnTo>
                    <a:pt x="0" y="32906"/>
                  </a:lnTo>
                  <a:cubicBezTo>
                    <a:pt x="0" y="14733"/>
                    <a:pt x="14733" y="0"/>
                    <a:pt x="32906" y="0"/>
                  </a:cubicBezTo>
                  <a:close/>
                </a:path>
              </a:pathLst>
            </a:custGeom>
            <a:solidFill>
              <a:srgbClr val="0166C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53398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Директор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20887" y="4894461"/>
            <a:ext cx="3999621" cy="1934269"/>
            <a:chOff x="0" y="0"/>
            <a:chExt cx="1053398" cy="5094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3398" cy="509437"/>
            </a:xfrm>
            <a:custGeom>
              <a:avLst/>
              <a:gdLst/>
              <a:ahLst/>
              <a:cxnLst/>
              <a:rect r="r" b="b" t="t" l="l"/>
              <a:pathLst>
                <a:path h="509437" w="1053398">
                  <a:moveTo>
                    <a:pt x="32906" y="0"/>
                  </a:moveTo>
                  <a:lnTo>
                    <a:pt x="1020492" y="0"/>
                  </a:lnTo>
                  <a:cubicBezTo>
                    <a:pt x="1029219" y="0"/>
                    <a:pt x="1037589" y="3467"/>
                    <a:pt x="1043760" y="9638"/>
                  </a:cubicBezTo>
                  <a:cubicBezTo>
                    <a:pt x="1049931" y="15809"/>
                    <a:pt x="1053398" y="24179"/>
                    <a:pt x="1053398" y="32906"/>
                  </a:cubicBezTo>
                  <a:lnTo>
                    <a:pt x="1053398" y="476531"/>
                  </a:lnTo>
                  <a:cubicBezTo>
                    <a:pt x="1053398" y="494705"/>
                    <a:pt x="1038665" y="509437"/>
                    <a:pt x="1020492" y="509437"/>
                  </a:cubicBezTo>
                  <a:lnTo>
                    <a:pt x="32906" y="509437"/>
                  </a:lnTo>
                  <a:cubicBezTo>
                    <a:pt x="14733" y="509437"/>
                    <a:pt x="0" y="494705"/>
                    <a:pt x="0" y="476531"/>
                  </a:cubicBezTo>
                  <a:lnTo>
                    <a:pt x="0" y="32906"/>
                  </a:lnTo>
                  <a:cubicBezTo>
                    <a:pt x="0" y="14733"/>
                    <a:pt x="14733" y="0"/>
                    <a:pt x="32906" y="0"/>
                  </a:cubicBezTo>
                  <a:close/>
                </a:path>
              </a:pathLst>
            </a:custGeom>
            <a:solidFill>
              <a:srgbClr val="0166C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53398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Адміністратор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37230" y="7324031"/>
            <a:ext cx="3999621" cy="1934269"/>
            <a:chOff x="0" y="0"/>
            <a:chExt cx="1053398" cy="5094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3398" cy="509437"/>
            </a:xfrm>
            <a:custGeom>
              <a:avLst/>
              <a:gdLst/>
              <a:ahLst/>
              <a:cxnLst/>
              <a:rect r="r" b="b" t="t" l="l"/>
              <a:pathLst>
                <a:path h="509437" w="1053398">
                  <a:moveTo>
                    <a:pt x="32906" y="0"/>
                  </a:moveTo>
                  <a:lnTo>
                    <a:pt x="1020492" y="0"/>
                  </a:lnTo>
                  <a:cubicBezTo>
                    <a:pt x="1029219" y="0"/>
                    <a:pt x="1037589" y="3467"/>
                    <a:pt x="1043760" y="9638"/>
                  </a:cubicBezTo>
                  <a:cubicBezTo>
                    <a:pt x="1049931" y="15809"/>
                    <a:pt x="1053398" y="24179"/>
                    <a:pt x="1053398" y="32906"/>
                  </a:cubicBezTo>
                  <a:lnTo>
                    <a:pt x="1053398" y="476531"/>
                  </a:lnTo>
                  <a:cubicBezTo>
                    <a:pt x="1053398" y="494705"/>
                    <a:pt x="1038665" y="509437"/>
                    <a:pt x="1020492" y="509437"/>
                  </a:cubicBezTo>
                  <a:lnTo>
                    <a:pt x="32906" y="509437"/>
                  </a:lnTo>
                  <a:cubicBezTo>
                    <a:pt x="14733" y="509437"/>
                    <a:pt x="0" y="494705"/>
                    <a:pt x="0" y="476531"/>
                  </a:cubicBezTo>
                  <a:lnTo>
                    <a:pt x="0" y="32906"/>
                  </a:lnTo>
                  <a:cubicBezTo>
                    <a:pt x="0" y="14733"/>
                    <a:pt x="14733" y="0"/>
                    <a:pt x="32906" y="0"/>
                  </a:cubicBezTo>
                  <a:close/>
                </a:path>
              </a:pathLst>
            </a:custGeom>
            <a:solidFill>
              <a:srgbClr val="0166C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53398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Персонал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51150" y="7324031"/>
            <a:ext cx="3999621" cy="1934269"/>
            <a:chOff x="0" y="0"/>
            <a:chExt cx="1053398" cy="5094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3398" cy="509437"/>
            </a:xfrm>
            <a:custGeom>
              <a:avLst/>
              <a:gdLst/>
              <a:ahLst/>
              <a:cxnLst/>
              <a:rect r="r" b="b" t="t" l="l"/>
              <a:pathLst>
                <a:path h="509437" w="1053398">
                  <a:moveTo>
                    <a:pt x="32906" y="0"/>
                  </a:moveTo>
                  <a:lnTo>
                    <a:pt x="1020492" y="0"/>
                  </a:lnTo>
                  <a:cubicBezTo>
                    <a:pt x="1029219" y="0"/>
                    <a:pt x="1037589" y="3467"/>
                    <a:pt x="1043760" y="9638"/>
                  </a:cubicBezTo>
                  <a:cubicBezTo>
                    <a:pt x="1049931" y="15809"/>
                    <a:pt x="1053398" y="24179"/>
                    <a:pt x="1053398" y="32906"/>
                  </a:cubicBezTo>
                  <a:lnTo>
                    <a:pt x="1053398" y="476531"/>
                  </a:lnTo>
                  <a:cubicBezTo>
                    <a:pt x="1053398" y="494705"/>
                    <a:pt x="1038665" y="509437"/>
                    <a:pt x="1020492" y="509437"/>
                  </a:cubicBezTo>
                  <a:lnTo>
                    <a:pt x="32906" y="509437"/>
                  </a:lnTo>
                  <a:cubicBezTo>
                    <a:pt x="14733" y="509437"/>
                    <a:pt x="0" y="494705"/>
                    <a:pt x="0" y="476531"/>
                  </a:cubicBezTo>
                  <a:lnTo>
                    <a:pt x="0" y="32906"/>
                  </a:lnTo>
                  <a:cubicBezTo>
                    <a:pt x="0" y="14733"/>
                    <a:pt x="14733" y="0"/>
                    <a:pt x="32906" y="0"/>
                  </a:cubicBezTo>
                  <a:close/>
                </a:path>
              </a:pathLst>
            </a:custGeom>
            <a:solidFill>
              <a:srgbClr val="0166C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53398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Клієнти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9075344" y="4398639"/>
            <a:ext cx="45353" cy="4958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9120697" y="6828731"/>
            <a:ext cx="2456899" cy="4953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6699012" y="6828731"/>
            <a:ext cx="2421685" cy="4953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301943" y="-25209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15458" y="-95250"/>
            <a:ext cx="15561433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Технічне завдання на розробк</a:t>
            </a:r>
            <a:r>
              <a:rPr lang="en-US" sz="5000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у програмного продукту</a:t>
            </a:r>
          </a:p>
          <a:p>
            <a:pPr algn="l">
              <a:lnSpc>
                <a:spcPts val="70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7380" y="2898088"/>
            <a:ext cx="14524827" cy="623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додавання нових записів: 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внесення нових експонатів до каталогу та створення записів на візит до галереї;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перегляд наявних записів: 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відображення електронного каталогу творів мистецтва, списку «Обране» та переліку запланованих візитів;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редагування вибраних записів: 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оперативна зміна інформації про експонат адміністратором;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видалення записів: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вилучення експонату з каталогу, скасування запису на візит або видалення твору зі списку обраного;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пошук та фільтрація даних: 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пошук за назвою чи художником, фільтрація за категорією, сортування за назвою або роком створення;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збереження даних у файл або базу даних: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фіксація інформації у локальній БД SQLite між сеансами роботи, а також експорт каталогу у CSV;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завантаження раніше збережених даних: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автоматичне зчитування бази даних та користувацьких налаштувань інтерфейсу при старті програми;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валідація введених користувачем даних: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перевірка коректності авторизаційних даних, параметрів експонату та вибору дати візиту з урахуванням вихідних днів галереї;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завершення роботи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пункт меню.</a:t>
            </a:r>
          </a:p>
          <a:p>
            <a:pPr algn="l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28991" y="914400"/>
            <a:ext cx="1283001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Опис інструментів розробки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35908" y="5924537"/>
            <a:ext cx="3333763" cy="3333763"/>
          </a:xfrm>
          <a:custGeom>
            <a:avLst/>
            <a:gdLst/>
            <a:ahLst/>
            <a:cxnLst/>
            <a:rect r="r" b="b" t="t" l="l"/>
            <a:pathLst>
              <a:path h="3333763" w="3333763">
                <a:moveTo>
                  <a:pt x="0" y="0"/>
                </a:moveTo>
                <a:lnTo>
                  <a:pt x="3333762" y="0"/>
                </a:lnTo>
                <a:lnTo>
                  <a:pt x="3333762" y="3333763"/>
                </a:lnTo>
                <a:lnTo>
                  <a:pt x="0" y="3333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07065" y="2677352"/>
            <a:ext cx="3591449" cy="2565320"/>
          </a:xfrm>
          <a:custGeom>
            <a:avLst/>
            <a:gdLst/>
            <a:ahLst/>
            <a:cxnLst/>
            <a:rect r="r" b="b" t="t" l="l"/>
            <a:pathLst>
              <a:path h="2565320" w="3591449">
                <a:moveTo>
                  <a:pt x="0" y="0"/>
                </a:moveTo>
                <a:lnTo>
                  <a:pt x="3591448" y="0"/>
                </a:lnTo>
                <a:lnTo>
                  <a:pt x="3591448" y="2565321"/>
                </a:lnTo>
                <a:lnTo>
                  <a:pt x="0" y="25653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32123" y="2316128"/>
            <a:ext cx="3532860" cy="3287768"/>
          </a:xfrm>
          <a:custGeom>
            <a:avLst/>
            <a:gdLst/>
            <a:ahLst/>
            <a:cxnLst/>
            <a:rect r="r" b="b" t="t" l="l"/>
            <a:pathLst>
              <a:path h="3287768" w="3532860">
                <a:moveTo>
                  <a:pt x="0" y="0"/>
                </a:moveTo>
                <a:lnTo>
                  <a:pt x="3532861" y="0"/>
                </a:lnTo>
                <a:lnTo>
                  <a:pt x="3532861" y="3287768"/>
                </a:lnTo>
                <a:lnTo>
                  <a:pt x="0" y="32877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92394" y="6117576"/>
            <a:ext cx="3372590" cy="3140724"/>
          </a:xfrm>
          <a:custGeom>
            <a:avLst/>
            <a:gdLst/>
            <a:ahLst/>
            <a:cxnLst/>
            <a:rect r="r" b="b" t="t" l="l"/>
            <a:pathLst>
              <a:path h="3140724" w="3372590">
                <a:moveTo>
                  <a:pt x="0" y="0"/>
                </a:moveTo>
                <a:lnTo>
                  <a:pt x="3372590" y="0"/>
                </a:lnTo>
                <a:lnTo>
                  <a:pt x="3372590" y="3140724"/>
                </a:lnTo>
                <a:lnTo>
                  <a:pt x="0" y="314072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28991" y="914400"/>
            <a:ext cx="1283001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Проєктування бази даних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95682" y="2508989"/>
            <a:ext cx="10896637" cy="5914399"/>
          </a:xfrm>
          <a:custGeom>
            <a:avLst/>
            <a:gdLst/>
            <a:ahLst/>
            <a:cxnLst/>
            <a:rect r="r" b="b" t="t" l="l"/>
            <a:pathLst>
              <a:path h="5914399" w="10896637">
                <a:moveTo>
                  <a:pt x="0" y="0"/>
                </a:moveTo>
                <a:lnTo>
                  <a:pt x="10896636" y="0"/>
                </a:lnTo>
                <a:lnTo>
                  <a:pt x="10896636" y="5914399"/>
                </a:lnTo>
                <a:lnTo>
                  <a:pt x="0" y="59143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28991" y="914400"/>
            <a:ext cx="1283001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Створення інтерфейсу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0174" y="2813435"/>
            <a:ext cx="6476479" cy="4660130"/>
          </a:xfrm>
          <a:custGeom>
            <a:avLst/>
            <a:gdLst/>
            <a:ahLst/>
            <a:cxnLst/>
            <a:rect r="r" b="b" t="t" l="l"/>
            <a:pathLst>
              <a:path h="4660130" w="6476479">
                <a:moveTo>
                  <a:pt x="0" y="0"/>
                </a:moveTo>
                <a:lnTo>
                  <a:pt x="6476479" y="0"/>
                </a:lnTo>
                <a:lnTo>
                  <a:pt x="6476479" y="4660130"/>
                </a:lnTo>
                <a:lnTo>
                  <a:pt x="0" y="46601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87682" y="2592286"/>
            <a:ext cx="6415009" cy="5102428"/>
          </a:xfrm>
          <a:custGeom>
            <a:avLst/>
            <a:gdLst/>
            <a:ahLst/>
            <a:cxnLst/>
            <a:rect r="r" b="b" t="t" l="l"/>
            <a:pathLst>
              <a:path h="5102428" w="6415009">
                <a:moveTo>
                  <a:pt x="0" y="0"/>
                </a:moveTo>
                <a:lnTo>
                  <a:pt x="6415009" y="0"/>
                </a:lnTo>
                <a:lnTo>
                  <a:pt x="6415009" y="5102428"/>
                </a:lnTo>
                <a:lnTo>
                  <a:pt x="0" y="51024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28991" y="914400"/>
            <a:ext cx="1283001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Інструкція користувача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12248" y="966787"/>
            <a:ext cx="466350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Висновок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06742" y="2470889"/>
            <a:ext cx="11474517" cy="584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Під час виконання обчислювальної практики було зроблено наступне: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виконано детальний опис предметної області «Арт-галерея», розглянуто основні процеси установи, визначено основних користувачів системи (адміністратор та відвідувач) та обґрунтовано необхідність автоматизації обліку експонатів і записів;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розроблено технічне завдання на створення програмного продукту, яке чітко окреслило вимоги до функціоналу, інтерфейсу, програмної реалізації та надійності майбутнього застосунку;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п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роведено проєктування реляційної бази даних у БД SQLite, яка складається з чотирьох основних взаємопов'язаних таблиць: «users», «artworks», «visit_bookings» та «settings»;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н</a:t>
            </a: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алаштовано запуск застосунку з автоматичним підключенням до бази даних, ініціалізацією сесії та відкриттям форми авторизації й реєстрації нових користувачів;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реалізовано додавання записів експонатів до каталогу та записів на візит через інтерактивні форми з вибором необхідних параметрів, дати та часового слота;</a:t>
            </a:r>
          </a:p>
          <a:p>
            <a:pPr algn="l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14790" y="3049491"/>
            <a:ext cx="12458420" cy="396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42"/>
              </a:lnSpc>
            </a:pPr>
            <a:r>
              <a:rPr lang="en-US" b="true" sz="11387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ДЯКУЮ ЗА УВАГУ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DAHNkXrMtC0</dc:identifier>
  <dcterms:modified xsi:type="dcterms:W3CDTF">2011-08-01T06:04:30Z</dcterms:modified>
  <cp:revision>1</cp:revision>
  <dc:title>Чернівецький національний університет імені Юрія Федьковича Навчально-науковий інститут фізико-технічних та комп’ютерних наук Кафедра комп’ютерних наук ЗВІТ З ОБЧИСЛЮВАЛЬНОЇ ПРАКТИКИ</dc:title>
</cp:coreProperties>
</file>